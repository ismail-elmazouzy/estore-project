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02C39A">
              <a:alpha val="28000"/>
            </a:srgbClr>
          </a:solidFill>
          <a:ln w="1270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0"/>
            <a:ext cx="1828800" cy="1828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PROJET E-COMMERCE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E-Store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 d'une Solution E-Commerce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Spring Boot · React.js · MySQL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45720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2C39A"/>
                </a:solidFill>
              </a:rPr>
              <a:t>Présenté par : Ismail El Mazouzy  |  Faculté des Sciences Ben M'Sik  |  ismailelmazouzy6@gmail.com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du Projet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Le commerce de détail connaît une transformation numérique profonde. E-Store répond à ce besoin en offrant une plateforme complète, moderne et évolutive pour digitaliser la gestion de produits, paniers et commandes.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560320" cy="1920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Modules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Principaux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560320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0040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Architecture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Découplée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2560320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03504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API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Moderne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Fonctionnels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463040"/>
            <a:ext cx="914400" cy="914400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58191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87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9768" y="3017520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Gestion dynamique des produits et catégories avec filtrage en temps réel et recherche instantanée.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69080" y="1463040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58191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487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Panier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310128" y="3017520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Système interactif de gestion des articles avec calcul automatique des totaux et mise à jour dynamique.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12801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1581912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487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Commandes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190488" y="3017520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Processus complet de validation et suivi des achats persistés en base de données MySQL.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Logicielle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Structure Découplée — Pattern MVC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508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1965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DDEF"/>
                </a:solidFill>
              </a:rPr>
              <a:t>Router · Components · 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1965960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96312" y="1325880"/>
            <a:ext cx="196596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 / HTTP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96312" y="2029968"/>
            <a:ext cx="1965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DDEF"/>
                </a:solidFill>
              </a:rPr>
              <a:t>JSON REST Calls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1965960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325880"/>
            <a:ext cx="1965960" cy="150876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72584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Backend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72584" y="2029968"/>
            <a:ext cx="1965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DDEF"/>
                </a:solidFill>
              </a:rPr>
              <a:t>Controller · Service · Repository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38544" y="1965960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48856" y="1325880"/>
            <a:ext cx="1965960" cy="150876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48856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48856" y="2029968"/>
            <a:ext cx="1965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DDEF"/>
                </a:solidFill>
              </a:rPr>
              <a:t>JPA / Hibernate ORM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81528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Backend: 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92024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</a:rPr>
              <a:t>Logique métier et API REST via Spring Boot</a:t>
            </a:r>
            <a:endParaRPr lang="en-US" sz="13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21608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7724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Frontend: 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92024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</a:rPr>
              <a:t>Single Page Application réactive avec React.js</a:t>
            </a:r>
            <a:endParaRPr lang="en-US" sz="13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61688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Data: 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92024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</a:rPr>
              <a:t>Persistance relationnelle robuste via MySQL + JPA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DB3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417320"/>
            <a:ext cx="914400" cy="914400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53619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9768" y="288036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Backend Java robuste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pour la sécurité et la performance.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63931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" y="363931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REST API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91363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391363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JPA / Hibernate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18795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" y="418795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Validation Bean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46227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446227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CORS Config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1DA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69080" y="1417320"/>
            <a:ext cx="914400" cy="914400"/>
          </a:xfrm>
          <a:prstGeom prst="ellipse">
            <a:avLst/>
          </a:prstGeom>
          <a:solidFill>
            <a:srgbClr val="0D2B5E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536192"/>
            <a:ext cx="676656" cy="6766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310128" y="288036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Frontend SPA pour une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expérience utilisateur fluide.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337560" y="363931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64992" y="363931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Hooks &amp; State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37560" y="391363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4992" y="391363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Axios HTTP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337560" y="418795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64992" y="418795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React Router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337560" y="446227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4992" y="446227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CSS Grid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080760" y="12344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5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949440" y="1417320"/>
            <a:ext cx="914400" cy="914400"/>
          </a:xfrm>
          <a:prstGeom prst="ellipse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1536192"/>
            <a:ext cx="676656" cy="6766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08076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6190488" y="288036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Stockage relationnel fiable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pour l'intégrité des données.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217920" y="363931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45352" y="363931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Relations JPA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217920" y="391363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245352" y="391363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Transactions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217920" y="418795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45352" y="418795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Contraintes FK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217920" y="4462272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45352" y="4462272"/>
            <a:ext cx="2331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E"/>
                </a:solidFill>
              </a:rPr>
              <a:t>✓  Schéma auto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de Données (JPA)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Entités et Relations — Mapping Objet-Relationnel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Attributs Clés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Rôle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731520"/>
          </a:xfrm>
          <a:prstGeom prst="rect">
            <a:avLst/>
          </a:prstGeom>
          <a:solidFill>
            <a:srgbClr val="0D2B5E"/>
          </a:solidFill>
          <a:ln w="12700">
            <a:solidFill>
              <a:srgbClr val="1E3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Product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00200" y="1664208"/>
            <a:ext cx="274320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Name, Price, ImageURL, Stock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1664208"/>
            <a:ext cx="23774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B4D8"/>
                </a:solidFill>
              </a:rPr>
              <a:t>Many-to-One (Category)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1664208"/>
            <a:ext cx="21031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Article du catalogue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8503920" cy="731520"/>
          </a:xfrm>
          <a:prstGeom prst="rect">
            <a:avLst/>
          </a:prstGeom>
          <a:solidFill>
            <a:srgbClr val="122D6E"/>
          </a:solidFill>
          <a:ln w="12700">
            <a:solidFill>
              <a:srgbClr val="1E3A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Category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0020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Name, Description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B4D8"/>
                </a:solidFill>
              </a:rPr>
              <a:t>One-to-Many (Product)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Groupement produits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8503920" cy="731520"/>
          </a:xfrm>
          <a:prstGeom prst="rect">
            <a:avLst/>
          </a:prstGeom>
          <a:solidFill>
            <a:srgbClr val="0D2B5E"/>
          </a:solidFill>
          <a:ln w="12700">
            <a:solidFill>
              <a:srgbClr val="1E3A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735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Order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00200" y="3273552"/>
            <a:ext cx="274320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Date, TotalAmount, Status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43400" y="3273552"/>
            <a:ext cx="23774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B4D8"/>
                </a:solidFill>
              </a:rPr>
              <a:t>One-to-Many (OrderItems)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20840" y="3273552"/>
            <a:ext cx="21031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Commande client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078224"/>
            <a:ext cx="8503920" cy="731520"/>
          </a:xfrm>
          <a:prstGeom prst="rect">
            <a:avLst/>
          </a:prstGeom>
          <a:solidFill>
            <a:srgbClr val="122D6E"/>
          </a:solidFill>
          <a:ln w="12700">
            <a:solidFill>
              <a:srgbClr val="1E3A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7822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OrderItem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00200" y="4078224"/>
            <a:ext cx="274320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Quantity, UnitPrice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078224"/>
            <a:ext cx="23774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B4D8"/>
                </a:solidFill>
              </a:rPr>
              <a:t>Many-to-One (Product &amp; Order)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4078224"/>
            <a:ext cx="21031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DDEF"/>
                </a:solidFill>
              </a:rPr>
              <a:t>Ligne de commande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APIs &amp; Postman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Rigoureuse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L'utilisation de Postman a permis de garantir la fiabilité des échanges JSON avant l'intégration frontend, avec une couverture complète des scénarios métier.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992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926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5E"/>
                </a:solidFill>
              </a:rPr>
              <a:t>HTTP 200 / 201 / 400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60320" y="2926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Validation des codes de réponse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344728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520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447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5E"/>
                </a:solidFill>
              </a:rPr>
              <a:t>Order Processing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60320" y="34472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Test de la logique métier complète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96849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416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9684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5E"/>
                </a:solidFill>
              </a:rPr>
              <a:t>Contraintes d'intégrité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560320" y="39684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Vérification FK et données valides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48970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5628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44897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5E"/>
                </a:solidFill>
              </a:rPr>
              <a:t>Erreurs 422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2560320" y="44897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IDs numériques corrects pour catégories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6634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REST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663440" y="17373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18288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09160" y="1828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40680" y="1737360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074152" y="182880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074152" y="1828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200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2249424"/>
            <a:ext cx="41148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709160" y="234086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709160" y="23408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40680" y="2249424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074152" y="2340864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074152" y="23408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201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663440" y="276148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709160" y="28529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709160" y="28529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44068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/api/categories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074152" y="285292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074152" y="2852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200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663440" y="3273552"/>
            <a:ext cx="41148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709160" y="33649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709160" y="33649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5440680" y="3273552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8074152" y="3364992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074152" y="33649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201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4663440" y="378561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709160" y="387705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709160" y="38770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5440680" y="3785616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8074152" y="3877056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074152" y="38770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200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4663440" y="4297680"/>
            <a:ext cx="41148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709160" y="438912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4709160" y="4389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DELETE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5440680" y="4297680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8074152" y="43891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8074152" y="43891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204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Utilisateur (UI)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371600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Harmonieux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9077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Mise en œuvre d'une grille CSS Grid 4×N pour un affichage structuré et professionnel des articles, avec des cartes produits uniformes.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34440"/>
            <a:ext cx="265176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371600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9077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Adaptation fluide aux terminaux Mobile, Tablette et Desktop avec des breakpoints soigneusement définis pour une accessibilité maximale.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234440"/>
            <a:ext cx="265176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1371600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Optimisée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17920" y="29077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Chargement différé, transitions fluides et retour visuel immédiat pour une expérience utilisateur moderne et intuitive.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Problèmes rencontrés et approches adoptées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115568"/>
          </a:xfrm>
          <a:prstGeom prst="rect">
            <a:avLst/>
          </a:prstGeom>
          <a:solidFill>
            <a:srgbClr val="0D2B5E"/>
          </a:solidFill>
          <a:ln w="12700">
            <a:solidFill>
              <a:srgbClr val="1E3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19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07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des Données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1691640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F72585">
              <a:alpha val="80000"/>
            </a:srgbClr>
          </a:solidFill>
          <a:ln w="12700">
            <a:solidFill>
              <a:srgbClr val="F7258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691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574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ABB"/>
                </a:solidFill>
              </a:rPr>
              <a:t>Erreurs 422 en Postman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1691640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691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1554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Envoi d'IDs numériques corrects pour les catégories au lieu de chaînes de caractères.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496312"/>
            <a:ext cx="8503920" cy="1115568"/>
          </a:xfrm>
          <a:prstGeom prst="rect">
            <a:avLst/>
          </a:prstGeom>
          <a:solidFill>
            <a:srgbClr val="0D2B5E"/>
          </a:solidFill>
          <a:ln w="12700">
            <a:solidFill>
              <a:srgbClr val="1E3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4378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Images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60120" y="295351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F72585">
              <a:alpha val="80000"/>
            </a:srgbClr>
          </a:solidFill>
          <a:ln w="12700">
            <a:solidFill>
              <a:srgbClr val="F72585">
                <a:alpha val="8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0120" y="2953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057400" y="2935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ABB"/>
                </a:solidFill>
              </a:rPr>
              <a:t>Bug d'affichage dans le panier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120640" y="2953512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2953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126480" y="28163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Optimisation des DTOs pour inclure l'URL complète de l'image produit.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0040" y="3758184"/>
            <a:ext cx="8503920" cy="1115568"/>
          </a:xfrm>
          <a:prstGeom prst="rect">
            <a:avLst/>
          </a:prstGeom>
          <a:solidFill>
            <a:srgbClr val="0D2B5E"/>
          </a:solidFill>
          <a:ln w="12700">
            <a:solidFill>
              <a:srgbClr val="1E3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0565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60120" y="3831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60120" y="4215384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F72585">
              <a:alpha val="80000"/>
            </a:srgbClr>
          </a:solidFill>
          <a:ln w="12700">
            <a:solidFill>
              <a:srgbClr val="F72585">
                <a:alpha val="8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60120" y="42153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05740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ABB"/>
                </a:solidFill>
              </a:rPr>
              <a:t>Lenteur sur le catalogue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120640" y="421538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20640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126480" y="4078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Mise en cache des requêtes et chargement différé pour fluidifier l'expérience.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 Futures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80467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148840"/>
            <a:ext cx="384048" cy="384048"/>
          </a:xfrm>
          <a:prstGeom prst="ellipse">
            <a:avLst/>
          </a:prstGeom>
          <a:solidFill>
            <a:srgbClr val="0D2B5E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51760"/>
            <a:ext cx="260604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724912"/>
            <a:ext cx="621792" cy="6217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4930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" y="4160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Intégration Stripe / PayPal avec webhook de confirmation.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2148840"/>
            <a:ext cx="384048" cy="384048"/>
          </a:xfrm>
          <a:prstGeom prst="ellipse">
            <a:avLst/>
          </a:prstGeom>
          <a:solidFill>
            <a:srgbClr val="0D2B5E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265176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2651760"/>
            <a:ext cx="260604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724912"/>
            <a:ext cx="621792" cy="6217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474720" y="34930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>
                <a:alpha val="8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74720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</a:rPr>
              <a:t>Phase 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83280" y="3749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JWT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93008" y="4160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Authentification sécurisée avec roles utilisateur et token refresh.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452360" y="2148840"/>
            <a:ext cx="384048" cy="384048"/>
          </a:xfrm>
          <a:prstGeom prst="ellipse">
            <a:avLst/>
          </a:prstGeom>
          <a:solidFill>
            <a:srgbClr val="0D2B5E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265176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17920" y="2651760"/>
            <a:ext cx="2606040" cy="7772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724912"/>
            <a:ext cx="621792" cy="62179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309360" y="34930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>
                <a:alpha val="85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09360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</a:rPr>
              <a:t>Phase 3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17920" y="3749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Admin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327648" y="4160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Tableau de bord statistique avec KPIs et rapports téléchargeables.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 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E-Store — Une solution full-stack moderne, évolutive et bien architecturée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Spring Boot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42316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React.js SPA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MySQL + JPA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-182880" y="2953512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-18288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REST API testée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953512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Responsive 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?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DDCC"/>
                </a:solidFill>
              </a:rPr>
              <a:t>ismailelmazouzy6@gmail.com  |  Faculté des Sciences Ben M'Sik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E-Store</dc:title>
  <dc:subject>PptxGenJS Presentation</dc:subject>
  <dc:creator>PptxGenJS</dc:creator>
  <cp:lastModifiedBy>PptxGenJS</cp:lastModifiedBy>
  <cp:revision>1</cp:revision>
  <dcterms:created xsi:type="dcterms:W3CDTF">2026-05-09T19:34:40Z</dcterms:created>
  <dcterms:modified xsi:type="dcterms:W3CDTF">2026-05-09T19:34:40Z</dcterms:modified>
</cp:coreProperties>
</file>